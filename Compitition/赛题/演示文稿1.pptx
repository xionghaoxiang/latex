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465"/>
    <a:srgbClr val="E59EDD"/>
    <a:srgbClr val="F2CFEE"/>
    <a:srgbClr val="97B0CD"/>
    <a:srgbClr val="FBE3D6"/>
    <a:srgbClr val="FFCC99"/>
    <a:srgbClr val="000000"/>
    <a:srgbClr val="46B1E1"/>
    <a:srgbClr val="945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458" autoAdjust="0"/>
  </p:normalViewPr>
  <p:slideViewPr>
    <p:cSldViewPr snapToGrid="0">
      <p:cViewPr varScale="1">
        <p:scale>
          <a:sx n="100" d="100"/>
          <a:sy n="100" d="100"/>
        </p:scale>
        <p:origin x="9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C6FCC-1489-4DAF-9FB0-8E8827CA886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7D2E8-86BC-4C7E-A437-EA94A861B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58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7D2E8-86BC-4C7E-A437-EA94A861B0B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872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7D2E8-86BC-4C7E-A437-EA94A861B0B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386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B9B8A-CD79-B0AC-BE1C-44F07E3C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43A464-3CAD-3DEC-BC69-52BD54590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790F1-7BBD-1305-3058-0C938218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64329-AF04-FB07-D92E-8CB8FAEB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24A13-127B-C87B-B11D-25352D21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47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D5BA4-BBBC-88EA-FB92-25EDC9F7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41508A-F18D-E5A8-4118-78DB428F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E51FD-D490-1CD2-E147-81DB907D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2BD73-E7C0-FE11-FCE3-64D1843F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503EB4-0230-6B2A-71F9-9803CF17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76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29CFA-B1DF-0A3B-4CE3-88011FB5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28C2B7-35B7-65B9-E88F-9A713E7D5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A51C44-0C59-4E97-3B5F-9A1400C9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95581-F3A5-1231-B0A5-743637E0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926F6-2DD6-6CB0-9DA7-D027A7BD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7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089CE-942F-F1A7-EDC7-8B6A1710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D9B20-A481-F07F-05B7-8C6B5A2E3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B99856-50EB-9DE2-38F7-3252DA23B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1CD8C-C9C5-6EF8-EFCE-E39BA71C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CC4BE0-9467-5284-AED2-5905646B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F71236-7C9B-2CB3-4B71-17427E01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03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C7133-1BA6-0181-F2B1-F482B13A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EE235A-DFDC-7139-1879-F577CE03C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AEA87B-0C4E-5F73-A3E3-C98F76068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7C0DE5-AB66-C0A0-F761-87547893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2FBD9E-E41A-BCC6-BDC2-A3CA4C052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CA4BE7-A594-9FF7-B9C8-F5913AF62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6BD4F5-27B3-2241-CF2A-DA7A7ACF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B2A378-6DC8-C55A-B556-F55B2223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16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1142E-28C2-2580-B83D-52B4FC66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5FC2DE-6C6A-4CE9-DD84-0B5F3357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1E2F76-249E-5E71-86E6-543C427D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FF5BD0-F1E0-08AB-36AE-A58773A6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68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063C3E-5232-1689-AF4F-B75BF6BC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A40701-818E-68FF-A5F1-F5E6B056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518D6C-190C-5224-781E-9DF23D4F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51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0340C-0882-7F22-5F14-1D145487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8F07F-074A-4279-1EBD-3F55D31A3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5D0EF4-0C97-7FE9-57EF-772F98123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E8FE5-376A-04A3-E614-5D04B448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605286-001F-D687-4675-B57CD456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A43207-6BFA-8860-603C-97D2D44A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22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2E03D-3838-7F82-E332-81A61206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2647FC-ABF8-AABC-5E61-E0E1EA368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3CC956-B23A-A655-35CA-0FC0286C3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CA408-4782-5195-BD3B-8BE2699C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B76FF0-9326-968C-C570-BBCDD6E6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E3B7DB-170E-C6D7-5704-A6769240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78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DD8B2-5B2F-8DA2-AC18-0E46DD0A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C0E9DE-1D16-ED9D-5331-1F3F80C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B9090-7FD4-C436-DE0B-086CEC6B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34773-FDF9-D6DE-EFA1-97A32AAD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EE0F24-4A84-872A-97EA-DC556019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16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97740D-1DE8-78ED-5C62-5F3165659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676C89-7C8E-96C2-2DAF-0D5389956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AC2E4-776F-D648-4B41-22928314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16763-067A-A4A2-4B79-18BF085E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AF73F-CAC8-FFFC-E38F-0DD52CE3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96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8E1111-E431-88F2-F487-E97E938F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798FBB-1F14-37F6-3908-0D8195689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7A6993-F7E3-4388-FAF1-8510E5F55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1D2A6-29F9-45A2-9E32-438BB1A4F62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1B169-F035-2926-526A-737BFC395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364918-5EE4-5D5E-291E-A58B7EFAB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73D92-7359-403C-8CE6-321D5264C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86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026D839-3BF0-C5C3-508C-2F655896C98A}"/>
              </a:ext>
            </a:extLst>
          </p:cNvPr>
          <p:cNvSpPr/>
          <p:nvPr/>
        </p:nvSpPr>
        <p:spPr>
          <a:xfrm>
            <a:off x="581892" y="431422"/>
            <a:ext cx="11143384" cy="6255128"/>
          </a:xfrm>
          <a:prstGeom prst="rect">
            <a:avLst/>
          </a:prstGeom>
          <a:solidFill>
            <a:schemeClr val="bg1"/>
          </a:solidFill>
          <a:ln w="317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4C4CC6F-1482-EFC9-C267-CEC5632201A8}"/>
              </a:ext>
            </a:extLst>
          </p:cNvPr>
          <p:cNvSpPr/>
          <p:nvPr/>
        </p:nvSpPr>
        <p:spPr>
          <a:xfrm>
            <a:off x="733352" y="447487"/>
            <a:ext cx="4955308" cy="452582"/>
          </a:xfrm>
          <a:prstGeom prst="roundRect">
            <a:avLst/>
          </a:prstGeom>
          <a:solidFill>
            <a:srgbClr val="F2F2F2">
              <a:alpha val="50196"/>
            </a:srgbClr>
          </a:solidFill>
          <a:ln>
            <a:solidFill>
              <a:srgbClr val="F2F2F2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Preparation 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3332A74-B1D1-2F2C-03CE-589AB9375707}"/>
              </a:ext>
            </a:extLst>
          </p:cNvPr>
          <p:cNvSpPr/>
          <p:nvPr/>
        </p:nvSpPr>
        <p:spPr>
          <a:xfrm>
            <a:off x="6619513" y="444501"/>
            <a:ext cx="4955309" cy="452582"/>
          </a:xfrm>
          <a:prstGeom prst="roundRect">
            <a:avLst/>
          </a:prstGeom>
          <a:solidFill>
            <a:srgbClr val="F2F2F2">
              <a:alpha val="50196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Model Establishment 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261176-5CCA-1127-B4D8-3228507961B2}"/>
              </a:ext>
            </a:extLst>
          </p:cNvPr>
          <p:cNvSpPr/>
          <p:nvPr/>
        </p:nvSpPr>
        <p:spPr>
          <a:xfrm>
            <a:off x="742951" y="962024"/>
            <a:ext cx="4955308" cy="5230957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6A571D-5E20-48BC-14A6-622907D10B4B}"/>
              </a:ext>
            </a:extLst>
          </p:cNvPr>
          <p:cNvSpPr/>
          <p:nvPr/>
        </p:nvSpPr>
        <p:spPr>
          <a:xfrm>
            <a:off x="785090" y="1000270"/>
            <a:ext cx="4876800" cy="1204046"/>
          </a:xfrm>
          <a:prstGeom prst="rect">
            <a:avLst/>
          </a:prstGeom>
          <a:solidFill>
            <a:srgbClr val="945FDB">
              <a:alpha val="1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DB9445-D559-2236-D384-FD605C1B322C}"/>
              </a:ext>
            </a:extLst>
          </p:cNvPr>
          <p:cNvSpPr/>
          <p:nvPr/>
        </p:nvSpPr>
        <p:spPr>
          <a:xfrm>
            <a:off x="785090" y="2263198"/>
            <a:ext cx="4876800" cy="1242002"/>
          </a:xfrm>
          <a:prstGeom prst="rect">
            <a:avLst/>
          </a:prstGeom>
          <a:solidFill>
            <a:srgbClr val="945FDB">
              <a:alpha val="1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50330B-A975-DB4F-95D4-7C1BAEEC8A87}"/>
              </a:ext>
            </a:extLst>
          </p:cNvPr>
          <p:cNvSpPr/>
          <p:nvPr/>
        </p:nvSpPr>
        <p:spPr>
          <a:xfrm>
            <a:off x="785090" y="3592945"/>
            <a:ext cx="4876800" cy="1242002"/>
          </a:xfrm>
          <a:prstGeom prst="rect">
            <a:avLst/>
          </a:prstGeom>
          <a:solidFill>
            <a:srgbClr val="945FDB">
              <a:alpha val="1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9196A3-EAB8-BC48-3DF7-A9663A7CA980}"/>
              </a:ext>
            </a:extLst>
          </p:cNvPr>
          <p:cNvSpPr/>
          <p:nvPr/>
        </p:nvSpPr>
        <p:spPr>
          <a:xfrm>
            <a:off x="785090" y="4917642"/>
            <a:ext cx="4876800" cy="1242002"/>
          </a:xfrm>
          <a:prstGeom prst="rect">
            <a:avLst/>
          </a:prstGeom>
          <a:solidFill>
            <a:srgbClr val="945FDB">
              <a:alpha val="1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424F3D-B7BC-DC64-A42D-2BBCAB112E9D}"/>
              </a:ext>
            </a:extLst>
          </p:cNvPr>
          <p:cNvSpPr/>
          <p:nvPr/>
        </p:nvSpPr>
        <p:spPr>
          <a:xfrm>
            <a:off x="6633008" y="962023"/>
            <a:ext cx="4928321" cy="5230957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A4305A-E947-F912-5EDC-000E1B045B63}"/>
              </a:ext>
            </a:extLst>
          </p:cNvPr>
          <p:cNvSpPr/>
          <p:nvPr/>
        </p:nvSpPr>
        <p:spPr>
          <a:xfrm>
            <a:off x="6653933" y="1000269"/>
            <a:ext cx="4907396" cy="1911205"/>
          </a:xfrm>
          <a:prstGeom prst="rect">
            <a:avLst/>
          </a:prstGeom>
          <a:solidFill>
            <a:srgbClr val="54AA9F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1612BC-CEDD-FAFF-45BC-0B70A4304C11}"/>
              </a:ext>
            </a:extLst>
          </p:cNvPr>
          <p:cNvSpPr/>
          <p:nvPr/>
        </p:nvSpPr>
        <p:spPr>
          <a:xfrm>
            <a:off x="6647150" y="2995323"/>
            <a:ext cx="4907396" cy="1388629"/>
          </a:xfrm>
          <a:prstGeom prst="rect">
            <a:avLst/>
          </a:prstGeom>
          <a:solidFill>
            <a:srgbClr val="54AA9F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2FB224-90E4-CD20-0FEB-4E0D38542CD6}"/>
              </a:ext>
            </a:extLst>
          </p:cNvPr>
          <p:cNvSpPr/>
          <p:nvPr/>
        </p:nvSpPr>
        <p:spPr>
          <a:xfrm>
            <a:off x="6647150" y="4531336"/>
            <a:ext cx="4907396" cy="1628308"/>
          </a:xfrm>
          <a:prstGeom prst="rect">
            <a:avLst/>
          </a:prstGeom>
          <a:solidFill>
            <a:srgbClr val="54AA9F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55539E-FD33-ACC3-7783-D4E4DD2A80D8}"/>
              </a:ext>
            </a:extLst>
          </p:cNvPr>
          <p:cNvSpPr/>
          <p:nvPr/>
        </p:nvSpPr>
        <p:spPr>
          <a:xfrm>
            <a:off x="6812756" y="1055003"/>
            <a:ext cx="4539385" cy="243033"/>
          </a:xfrm>
          <a:prstGeom prst="rect">
            <a:avLst/>
          </a:prstGeom>
          <a:solidFill>
            <a:srgbClr val="54AA9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Model I: Kinematic &amp; Physical Models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EEF8866-C8F7-2ABB-B3A3-492D41A6929F}"/>
              </a:ext>
            </a:extLst>
          </p:cNvPr>
          <p:cNvSpPr/>
          <p:nvPr/>
        </p:nvSpPr>
        <p:spPr>
          <a:xfrm>
            <a:off x="6867525" y="1390650"/>
            <a:ext cx="1724025" cy="6566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UAV Motion Model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Uniform straight-level motion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ACE7B73-052F-E007-7123-28247B413D35}"/>
              </a:ext>
            </a:extLst>
          </p:cNvPr>
          <p:cNvSpPr/>
          <p:nvPr/>
        </p:nvSpPr>
        <p:spPr>
          <a:xfrm>
            <a:off x="9547225" y="1366259"/>
            <a:ext cx="1724025" cy="6566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Missile Motion Model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Constant velocity flight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CDDBD9-FFA3-D1BE-30A8-28A42A5F7A75}"/>
              </a:ext>
            </a:extLst>
          </p:cNvPr>
          <p:cNvSpPr/>
          <p:nvPr/>
        </p:nvSpPr>
        <p:spPr>
          <a:xfrm>
            <a:off x="6867525" y="2122631"/>
            <a:ext cx="1724025" cy="6566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Smoke Grenade Motion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Projectile motion before detonation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0DB9D37-43C2-09D0-8388-A06F56741F14}"/>
              </a:ext>
            </a:extLst>
          </p:cNvPr>
          <p:cNvSpPr/>
          <p:nvPr/>
        </p:nvSpPr>
        <p:spPr>
          <a:xfrm>
            <a:off x="9547225" y="2167080"/>
            <a:ext cx="1724025" cy="6566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Smoke Cloud Evolution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Spherical cloud &amp; sinking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DE65389-77BA-1478-7A82-8ABB2E412B2D}"/>
              </a:ext>
            </a:extLst>
          </p:cNvPr>
          <p:cNvSpPr/>
          <p:nvPr/>
        </p:nvSpPr>
        <p:spPr>
          <a:xfrm>
            <a:off x="6783169" y="3069684"/>
            <a:ext cx="4568972" cy="2682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Model II: Effective Shielding Judgment Model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653953AC-5E01-D266-2D58-2A639BBE1BE7}"/>
              </a:ext>
            </a:extLst>
          </p:cNvPr>
          <p:cNvSpPr/>
          <p:nvPr/>
        </p:nvSpPr>
        <p:spPr>
          <a:xfrm>
            <a:off x="9039032" y="2398317"/>
            <a:ext cx="229177" cy="636010"/>
          </a:xfrm>
          <a:prstGeom prst="downArrow">
            <a:avLst/>
          </a:prstGeom>
          <a:solidFill>
            <a:srgbClr val="46B1E1">
              <a:alpha val="50196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EB8F804-8582-6169-D8D2-64B89AEA20D4}"/>
              </a:ext>
            </a:extLst>
          </p:cNvPr>
          <p:cNvSpPr/>
          <p:nvPr/>
        </p:nvSpPr>
        <p:spPr>
          <a:xfrm>
            <a:off x="6756833" y="3413847"/>
            <a:ext cx="2310967" cy="4143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Line-of-sight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Geometric simplification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AA29AD4-7FE5-A45C-CCBD-57B4BF244150}"/>
              </a:ext>
            </a:extLst>
          </p:cNvPr>
          <p:cNvSpPr/>
          <p:nvPr/>
        </p:nvSpPr>
        <p:spPr>
          <a:xfrm>
            <a:off x="9177483" y="3405330"/>
            <a:ext cx="2310967" cy="4143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Point-to-line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distance algorithm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44F4678-272D-4DBB-30B1-6E23AAB18931}"/>
              </a:ext>
            </a:extLst>
          </p:cNvPr>
          <p:cNvSpPr/>
          <p:nvPr/>
        </p:nvSpPr>
        <p:spPr>
          <a:xfrm>
            <a:off x="6749905" y="3898899"/>
            <a:ext cx="2310967" cy="4143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Shielding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indicator function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570F53E-E426-EA02-04FE-8780C3B2DD10}"/>
              </a:ext>
            </a:extLst>
          </p:cNvPr>
          <p:cNvSpPr/>
          <p:nvPr/>
        </p:nvSpPr>
        <p:spPr>
          <a:xfrm>
            <a:off x="9177483" y="3873606"/>
            <a:ext cx="2310967" cy="4143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Effective shielding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duration calculation</a:t>
            </a:r>
            <a:endParaRPr lang="zh-CN" altLang="en-US" sz="11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61357E8-C6FC-0556-7D61-0CBFEA3F00A6}"/>
              </a:ext>
            </a:extLst>
          </p:cNvPr>
          <p:cNvSpPr/>
          <p:nvPr/>
        </p:nvSpPr>
        <p:spPr>
          <a:xfrm>
            <a:off x="6798107" y="4591914"/>
            <a:ext cx="4554034" cy="243033"/>
          </a:xfrm>
          <a:prstGeom prst="rect">
            <a:avLst/>
          </a:prstGeom>
          <a:solidFill>
            <a:srgbClr val="54AA9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Model III: Optimization and Decision Models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19FF4FB-C6B9-BA77-4A1C-4390056A6D50}"/>
              </a:ext>
            </a:extLst>
          </p:cNvPr>
          <p:cNvSpPr/>
          <p:nvPr/>
        </p:nvSpPr>
        <p:spPr>
          <a:xfrm>
            <a:off x="6749905" y="4834948"/>
            <a:ext cx="841054" cy="1225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1: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Direct simulation</a:t>
            </a:r>
            <a:endParaRPr lang="zh-CN" altLang="en-US" sz="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09A0CF9-9BAD-EFC4-A395-2FDFE72DB7A0}"/>
              </a:ext>
            </a:extLst>
          </p:cNvPr>
          <p:cNvSpPr/>
          <p:nvPr/>
        </p:nvSpPr>
        <p:spPr>
          <a:xfrm>
            <a:off x="7728454" y="4834948"/>
            <a:ext cx="861469" cy="12420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2: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Single-grenade optimization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Velocity scan + PSO</a:t>
            </a:r>
            <a:endParaRPr lang="zh-CN" altLang="en-US" sz="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4D01F6A-3E84-FA58-F00C-8130A4303805}"/>
              </a:ext>
            </a:extLst>
          </p:cNvPr>
          <p:cNvSpPr/>
          <p:nvPr/>
        </p:nvSpPr>
        <p:spPr>
          <a:xfrm>
            <a:off x="8722887" y="4834947"/>
            <a:ext cx="861469" cy="1225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3: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Multi-grenade coordination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Improved PSO</a:t>
            </a:r>
            <a:endParaRPr lang="zh-CN" altLang="en-US" sz="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A8707F-7CE6-02F8-BE58-A0660F4F367E}"/>
              </a:ext>
            </a:extLst>
          </p:cNvPr>
          <p:cNvSpPr/>
          <p:nvPr/>
        </p:nvSpPr>
        <p:spPr>
          <a:xfrm>
            <a:off x="9721851" y="4834947"/>
            <a:ext cx="861469" cy="1225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4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Multi-UAV cooperation Differential Evolution</a:t>
            </a:r>
            <a:endParaRPr lang="zh-CN" altLang="en-US" sz="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7EBFE64-F118-174D-97E9-0938BD07396B}"/>
              </a:ext>
            </a:extLst>
          </p:cNvPr>
          <p:cNvSpPr/>
          <p:nvPr/>
        </p:nvSpPr>
        <p:spPr>
          <a:xfrm>
            <a:off x="10713605" y="4834947"/>
            <a:ext cx="804142" cy="12146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5</a:t>
            </a:r>
          </a:p>
          <a:p>
            <a:pPr algn="ctr"/>
            <a:r>
              <a:rPr lang="it-IT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Multi-UAV &amp; multi-missile</a:t>
            </a:r>
          </a:p>
          <a:p>
            <a:pPr algn="ctr"/>
            <a:r>
              <a:rPr lang="it-IT" altLang="zh-CN" sz="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Hierarchical strategy</a:t>
            </a:r>
            <a:endParaRPr lang="zh-CN" altLang="en-US" sz="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351ABA3-97D5-6DEB-9E15-B3F40666C997}"/>
              </a:ext>
            </a:extLst>
          </p:cNvPr>
          <p:cNvSpPr/>
          <p:nvPr/>
        </p:nvSpPr>
        <p:spPr>
          <a:xfrm>
            <a:off x="742951" y="6289376"/>
            <a:ext cx="10818377" cy="3273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Results &amp; Output</a:t>
            </a:r>
            <a:endParaRPr lang="zh-CN" altLang="en-US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673540C0-9CDA-3CA3-9914-E2724D68272A}"/>
              </a:ext>
            </a:extLst>
          </p:cNvPr>
          <p:cNvSpPr/>
          <p:nvPr/>
        </p:nvSpPr>
        <p:spPr>
          <a:xfrm>
            <a:off x="5724270" y="3357821"/>
            <a:ext cx="922879" cy="541077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A51A8C3-C06B-F478-4C1A-9EA57D93706F}"/>
              </a:ext>
            </a:extLst>
          </p:cNvPr>
          <p:cNvSpPr/>
          <p:nvPr/>
        </p:nvSpPr>
        <p:spPr>
          <a:xfrm>
            <a:off x="1138632" y="1294070"/>
            <a:ext cx="4331855" cy="849808"/>
          </a:xfrm>
          <a:prstGeom prst="rect">
            <a:avLst/>
          </a:prstGeom>
          <a:solidFill>
            <a:srgbClr val="F2CFE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>
              <a:solidFill>
                <a:schemeClr val="accent5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Missile straight-line motion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UAV level flight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Smoke cloud simplification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endParaRPr lang="zh-CN" altLang="en-US" sz="1400" dirty="0">
              <a:latin typeface="Cambria" panose="020405030504060302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D281B48-6B27-3DCF-1AE2-B67CE2033A33}"/>
              </a:ext>
            </a:extLst>
          </p:cNvPr>
          <p:cNvSpPr/>
          <p:nvPr/>
        </p:nvSpPr>
        <p:spPr>
          <a:xfrm>
            <a:off x="1138631" y="2649396"/>
            <a:ext cx="4331855" cy="793849"/>
          </a:xfrm>
          <a:prstGeom prst="rect">
            <a:avLst/>
          </a:prstGeom>
          <a:solidFill>
            <a:srgbClr val="F2CFE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Fake target as origin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True target location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D85CA6B-810F-50A5-A407-978EB7BD5574}"/>
              </a:ext>
            </a:extLst>
          </p:cNvPr>
          <p:cNvSpPr/>
          <p:nvPr/>
        </p:nvSpPr>
        <p:spPr>
          <a:xfrm>
            <a:off x="1112619" y="2360780"/>
            <a:ext cx="4542634" cy="319323"/>
          </a:xfrm>
          <a:prstGeom prst="rect">
            <a:avLst/>
          </a:prstGeom>
          <a:solidFill>
            <a:srgbClr val="F2CFEE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Coordinate system establishment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9DD20AE-383F-6FF6-CF0F-16840C6CC933}"/>
              </a:ext>
            </a:extLst>
          </p:cNvPr>
          <p:cNvSpPr/>
          <p:nvPr/>
        </p:nvSpPr>
        <p:spPr>
          <a:xfrm>
            <a:off x="1071804" y="1006322"/>
            <a:ext cx="4542634" cy="319323"/>
          </a:xfrm>
          <a:prstGeom prst="rect">
            <a:avLst/>
          </a:prstGeom>
          <a:solidFill>
            <a:srgbClr val="F2CFEE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Problem interpretation and assumptions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81594C-82C9-6587-3B75-2FC908C3B17C}"/>
              </a:ext>
            </a:extLst>
          </p:cNvPr>
          <p:cNvSpPr/>
          <p:nvPr/>
        </p:nvSpPr>
        <p:spPr>
          <a:xfrm>
            <a:off x="1033243" y="3612498"/>
            <a:ext cx="4542634" cy="319323"/>
          </a:xfrm>
          <a:prstGeom prst="rect">
            <a:avLst/>
          </a:prstGeom>
          <a:solidFill>
            <a:srgbClr val="F2CFEE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Parameter definition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0926EB4-13CA-65A9-CE41-0FA17AFD4FC4}"/>
              </a:ext>
            </a:extLst>
          </p:cNvPr>
          <p:cNvSpPr/>
          <p:nvPr/>
        </p:nvSpPr>
        <p:spPr>
          <a:xfrm>
            <a:off x="952173" y="5032804"/>
            <a:ext cx="4542634" cy="319323"/>
          </a:xfrm>
          <a:prstGeom prst="rect">
            <a:avLst/>
          </a:prstGeom>
          <a:solidFill>
            <a:srgbClr val="F2CFEE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Time discretization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3566B1F-FACE-DF83-C8F7-E8F81FD529DC}"/>
              </a:ext>
            </a:extLst>
          </p:cNvPr>
          <p:cNvSpPr/>
          <p:nvPr/>
        </p:nvSpPr>
        <p:spPr>
          <a:xfrm>
            <a:off x="1135422" y="5315992"/>
            <a:ext cx="4331855" cy="650255"/>
          </a:xfrm>
          <a:prstGeom prst="rect">
            <a:avLst/>
          </a:prstGeom>
          <a:solidFill>
            <a:srgbClr val="F2CFE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Fixed time-step simulation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A25F00F-FC6F-BED9-B3B5-B0B4FB0538A1}"/>
              </a:ext>
            </a:extLst>
          </p:cNvPr>
          <p:cNvSpPr/>
          <p:nvPr/>
        </p:nvSpPr>
        <p:spPr>
          <a:xfrm>
            <a:off x="1135421" y="3972945"/>
            <a:ext cx="4331855" cy="793849"/>
          </a:xfrm>
          <a:prstGeom prst="rect">
            <a:avLst/>
          </a:prstGeom>
          <a:solidFill>
            <a:srgbClr val="F2CFE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UAV speed bounds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Detonation delay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Smoke radius &amp; duration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5" name="箭头: 直角上 64">
            <a:extLst>
              <a:ext uri="{FF2B5EF4-FFF2-40B4-BE49-F238E27FC236}">
                <a16:creationId xmlns:a16="http://schemas.microsoft.com/office/drawing/2014/main" id="{439D0356-5683-526D-7B30-69FAD03F46C6}"/>
              </a:ext>
            </a:extLst>
          </p:cNvPr>
          <p:cNvSpPr/>
          <p:nvPr/>
        </p:nvSpPr>
        <p:spPr>
          <a:xfrm rot="10800000">
            <a:off x="6012221" y="5315991"/>
            <a:ext cx="620786" cy="925185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907CBBB-8511-AF74-A4E1-3E331CE69FAF}"/>
              </a:ext>
            </a:extLst>
          </p:cNvPr>
          <p:cNvCxnSpPr/>
          <p:nvPr/>
        </p:nvCxnSpPr>
        <p:spPr>
          <a:xfrm>
            <a:off x="8858250" y="3612498"/>
            <a:ext cx="561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1BA4341-662C-0629-9EAB-171913883A9E}"/>
              </a:ext>
            </a:extLst>
          </p:cNvPr>
          <p:cNvCxnSpPr/>
          <p:nvPr/>
        </p:nvCxnSpPr>
        <p:spPr>
          <a:xfrm>
            <a:off x="8858250" y="4117323"/>
            <a:ext cx="561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74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996D35F-5CCE-67C5-B97B-FAB2B53B6C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D0FDFC-9662-B737-9C27-AD45D00AB451}"/>
              </a:ext>
            </a:extLst>
          </p:cNvPr>
          <p:cNvSpPr/>
          <p:nvPr/>
        </p:nvSpPr>
        <p:spPr>
          <a:xfrm>
            <a:off x="71131" y="3437462"/>
            <a:ext cx="10132142" cy="3264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6388BA-2BB7-24DC-7B57-340A7C2D224C}"/>
              </a:ext>
            </a:extLst>
          </p:cNvPr>
          <p:cNvSpPr/>
          <p:nvPr/>
        </p:nvSpPr>
        <p:spPr>
          <a:xfrm>
            <a:off x="105589" y="212231"/>
            <a:ext cx="10132141" cy="2106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2202C5-CD68-F49F-AEFD-6530942A61B2}"/>
              </a:ext>
            </a:extLst>
          </p:cNvPr>
          <p:cNvSpPr/>
          <p:nvPr/>
        </p:nvSpPr>
        <p:spPr>
          <a:xfrm>
            <a:off x="68702" y="2691024"/>
            <a:ext cx="10132141" cy="518712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Bi-level Optimization Framework        </a:t>
            </a:r>
            <a:endParaRPr lang="zh-CN" altLang="en-US" dirty="0">
              <a:solidFill>
                <a:schemeClr val="tx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D6EE4B4-4491-7CBA-5CC7-9C81853BA79E}"/>
              </a:ext>
            </a:extLst>
          </p:cNvPr>
          <p:cNvSpPr/>
          <p:nvPr/>
        </p:nvSpPr>
        <p:spPr>
          <a:xfrm>
            <a:off x="227007" y="819590"/>
            <a:ext cx="2936562" cy="13748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Chromosome Encoding</a:t>
            </a: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X_fly</a:t>
            </a: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[v_1, θ_1, v_2, θ_2, … , v_5, θ_5]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Real-coded chromosome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3F8A14-4A36-7738-A7EA-404457B13809}"/>
              </a:ext>
            </a:extLst>
          </p:cNvPr>
          <p:cNvSpPr/>
          <p:nvPr/>
        </p:nvSpPr>
        <p:spPr>
          <a:xfrm>
            <a:off x="3691219" y="855491"/>
            <a:ext cx="2936564" cy="13748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Genetic Operators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Selection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Simulated binary crossover (SBX)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Polynomial mutation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FA9B5A-E294-3FBE-6BC9-23FDB1903224}"/>
              </a:ext>
            </a:extLst>
          </p:cNvPr>
          <p:cNvSpPr/>
          <p:nvPr/>
        </p:nvSpPr>
        <p:spPr>
          <a:xfrm>
            <a:off x="7283136" y="855491"/>
            <a:ext cx="2841834" cy="13748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Fitness Evaluation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Fitness(</a:t>
            </a:r>
            <a:r>
              <a:rPr lang="en-US" altLang="zh-C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X_fly</a:t>
            </a: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= − J(</a:t>
            </a:r>
            <a:r>
              <a:rPr lang="en-US" altLang="zh-C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X_fly</a:t>
            </a: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B46D01-24E5-8EF3-F3B1-BFBB8FCB037C}"/>
              </a:ext>
            </a:extLst>
          </p:cNvPr>
          <p:cNvSpPr/>
          <p:nvPr/>
        </p:nvSpPr>
        <p:spPr>
          <a:xfrm>
            <a:off x="211097" y="4143072"/>
            <a:ext cx="2787332" cy="23263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1: Candidate Set Generation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each UAV i: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For each discrete time t on its trajectory: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For each detonation delay τ: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Simulate smoke cloud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If intercepts M1 / M2 / M3: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Record as candidate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3945F1-5F18-3653-DF99-65C9F96BCB7D}"/>
              </a:ext>
            </a:extLst>
          </p:cNvPr>
          <p:cNvSpPr/>
          <p:nvPr/>
        </p:nvSpPr>
        <p:spPr>
          <a:xfrm>
            <a:off x="3691219" y="4146169"/>
            <a:ext cx="2787332" cy="23263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2: Greedy Selection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Sort candidates by shielding duration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Iteratively select best candidate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Subject to: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– smoke bomb per UAV ≤ 3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– Time interval ≥ 1 s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ED3C61-D4E2-39C5-6522-8AA82D33FAA4}"/>
              </a:ext>
            </a:extLst>
          </p:cNvPr>
          <p:cNvSpPr/>
          <p:nvPr/>
        </p:nvSpPr>
        <p:spPr>
          <a:xfrm>
            <a:off x="7337638" y="4146169"/>
            <a:ext cx="2787332" cy="23263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3: Union Benefit Calculation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Aggregate all selected plans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Compute shielding time intervals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for M1, M2, M3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Calculate union length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Obtain total score J(</a:t>
            </a:r>
            <a:r>
              <a:rPr lang="en-US" altLang="zh-CN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X_fly</a:t>
            </a: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8C363F-CFD0-8359-8F32-BDB62333377F}"/>
              </a:ext>
            </a:extLst>
          </p:cNvPr>
          <p:cNvSpPr/>
          <p:nvPr/>
        </p:nvSpPr>
        <p:spPr>
          <a:xfrm>
            <a:off x="227007" y="261549"/>
            <a:ext cx="9897963" cy="345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Outer Layer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：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Genetic Algorithm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4F5099-EB63-6CB2-5CD8-AFD14E2941EF}"/>
              </a:ext>
            </a:extLst>
          </p:cNvPr>
          <p:cNvSpPr/>
          <p:nvPr/>
        </p:nvSpPr>
        <p:spPr>
          <a:xfrm>
            <a:off x="227007" y="3617362"/>
            <a:ext cx="9897963" cy="3458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Inner Layer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：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Greedy Strategy for Smoke Grenade Scheduling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F4C05E-E744-3BCC-7862-F62BCD013B63}"/>
              </a:ext>
            </a:extLst>
          </p:cNvPr>
          <p:cNvSpPr/>
          <p:nvPr/>
        </p:nvSpPr>
        <p:spPr>
          <a:xfrm>
            <a:off x="10377696" y="212231"/>
            <a:ext cx="1705021" cy="6489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C8B77C9-81DA-76A8-441D-72987036A264}"/>
              </a:ext>
            </a:extLst>
          </p:cNvPr>
          <p:cNvSpPr/>
          <p:nvPr/>
        </p:nvSpPr>
        <p:spPr>
          <a:xfrm>
            <a:off x="10372898" y="212231"/>
            <a:ext cx="1675361" cy="1914351"/>
          </a:xfrm>
          <a:prstGeom prst="roundRect">
            <a:avLst/>
          </a:prstGeom>
          <a:solidFill>
            <a:srgbClr val="E59ED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Advantages of the Bi-level Strategy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866B12-C70E-E480-2F8D-BBD7342E304B}"/>
              </a:ext>
            </a:extLst>
          </p:cNvPr>
          <p:cNvSpPr/>
          <p:nvPr/>
        </p:nvSpPr>
        <p:spPr>
          <a:xfrm>
            <a:off x="10532880" y="2691257"/>
            <a:ext cx="1406271" cy="1113772"/>
          </a:xfrm>
          <a:prstGeom prst="rect">
            <a:avLst/>
          </a:prstGeom>
          <a:solidFill>
            <a:srgbClr val="E59ED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Decouples trajectory planning and timing</a:t>
            </a:r>
            <a:endParaRPr lang="zh-CN" altLang="en-US" sz="16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1E36D4-8F1F-B50D-7D78-E6D661BFBD82}"/>
              </a:ext>
            </a:extLst>
          </p:cNvPr>
          <p:cNvSpPr/>
          <p:nvPr/>
        </p:nvSpPr>
        <p:spPr>
          <a:xfrm>
            <a:off x="10515228" y="4118591"/>
            <a:ext cx="1390700" cy="901722"/>
          </a:xfrm>
          <a:prstGeom prst="rect">
            <a:avLst/>
          </a:prstGeom>
          <a:solidFill>
            <a:srgbClr val="E59ED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Reduces combinatorial complexity</a:t>
            </a:r>
            <a:endParaRPr lang="zh-CN" altLang="en-US" sz="16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50C41E-0515-5E4D-F61F-AAAC3E2DFC9F}"/>
              </a:ext>
            </a:extLst>
          </p:cNvPr>
          <p:cNvSpPr/>
          <p:nvPr/>
        </p:nvSpPr>
        <p:spPr>
          <a:xfrm>
            <a:off x="10532880" y="5333875"/>
            <a:ext cx="1438807" cy="1136466"/>
          </a:xfrm>
          <a:prstGeom prst="rect">
            <a:avLst/>
          </a:prstGeom>
          <a:solidFill>
            <a:srgbClr val="E59ED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Ensures solution quality with high efficiency</a:t>
            </a:r>
            <a:endParaRPr lang="zh-CN" altLang="en-US" sz="16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AE01AF8-DF73-7542-2128-0B7ADA9EC8C0}"/>
              </a:ext>
            </a:extLst>
          </p:cNvPr>
          <p:cNvSpPr/>
          <p:nvPr/>
        </p:nvSpPr>
        <p:spPr>
          <a:xfrm>
            <a:off x="3205474" y="1370013"/>
            <a:ext cx="430818" cy="34581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401D1110-222D-4E1E-3519-9BBCE44E12F3}"/>
              </a:ext>
            </a:extLst>
          </p:cNvPr>
          <p:cNvSpPr/>
          <p:nvPr/>
        </p:nvSpPr>
        <p:spPr>
          <a:xfrm>
            <a:off x="6717150" y="1317462"/>
            <a:ext cx="430818" cy="34581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2A0343EE-6122-158E-C6D4-21FFA98920F1}"/>
              </a:ext>
            </a:extLst>
          </p:cNvPr>
          <p:cNvSpPr/>
          <p:nvPr/>
        </p:nvSpPr>
        <p:spPr>
          <a:xfrm>
            <a:off x="3094122" y="5159481"/>
            <a:ext cx="430818" cy="34581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909908AF-0181-C317-86B4-C53CD94EAE3E}"/>
              </a:ext>
            </a:extLst>
          </p:cNvPr>
          <p:cNvSpPr/>
          <p:nvPr/>
        </p:nvSpPr>
        <p:spPr>
          <a:xfrm>
            <a:off x="6706056" y="5194728"/>
            <a:ext cx="430818" cy="34581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上 32">
            <a:extLst>
              <a:ext uri="{FF2B5EF4-FFF2-40B4-BE49-F238E27FC236}">
                <a16:creationId xmlns:a16="http://schemas.microsoft.com/office/drawing/2014/main" id="{D855B951-471D-5B8A-BE30-DEE8D456F509}"/>
              </a:ext>
            </a:extLst>
          </p:cNvPr>
          <p:cNvSpPr/>
          <p:nvPr/>
        </p:nvSpPr>
        <p:spPr>
          <a:xfrm>
            <a:off x="8488982" y="2088417"/>
            <a:ext cx="706840" cy="1511142"/>
          </a:xfrm>
          <a:prstGeom prst="upArrow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上 1">
            <a:extLst>
              <a:ext uri="{FF2B5EF4-FFF2-40B4-BE49-F238E27FC236}">
                <a16:creationId xmlns:a16="http://schemas.microsoft.com/office/drawing/2014/main" id="{0BB53310-2AFC-F07F-402F-1591C071D789}"/>
              </a:ext>
            </a:extLst>
          </p:cNvPr>
          <p:cNvSpPr/>
          <p:nvPr/>
        </p:nvSpPr>
        <p:spPr>
          <a:xfrm rot="10800000">
            <a:off x="1341868" y="2106220"/>
            <a:ext cx="706840" cy="1511142"/>
          </a:xfrm>
          <a:prstGeom prst="upArrow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59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BF9E1AE-0E11-4B1D-BBAF-C5C969E5A734}">
  <we:reference id="wa200005566" version="3.0.0.3" store="zh-CN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271CD50-223D-4F30-82D9-F992D0E30C32}">
  <we:reference id="wa200006772" version="1.13.0.0" store="zh-CN" storeType="OMEX"/>
  <we:alternateReferences>
    <we:reference id="WA200006772" version="1.13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364</Words>
  <Application>Microsoft Office PowerPoint</Application>
  <PresentationFormat>宽屏</PresentationFormat>
  <Paragraphs>86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Microsoft YaHei UI</vt:lpstr>
      <vt:lpstr>Noto Sans SC Black</vt:lpstr>
      <vt:lpstr>等线</vt:lpstr>
      <vt:lpstr>等线 Light</vt:lpstr>
      <vt:lpstr>Arial</vt:lpstr>
      <vt:lpstr>Cambria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haoxiang xiong</dc:creator>
  <cp:lastModifiedBy>haoxiang xiong</cp:lastModifiedBy>
  <cp:revision>13</cp:revision>
  <dcterms:created xsi:type="dcterms:W3CDTF">2025-12-18T08:23:43Z</dcterms:created>
  <dcterms:modified xsi:type="dcterms:W3CDTF">2025-12-21T15:39:01Z</dcterms:modified>
</cp:coreProperties>
</file>