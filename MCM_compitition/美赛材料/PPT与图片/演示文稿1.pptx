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16948"/>
    <a:srgbClr val="D6A4A1"/>
    <a:srgbClr val="38998C"/>
    <a:srgbClr val="2D7B70"/>
    <a:srgbClr val="C0726E"/>
    <a:srgbClr val="668BB9"/>
    <a:srgbClr val="4FAB75"/>
    <a:srgbClr val="91AB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26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180E36-B14F-411E-9AC4-A6DE9FEA21B0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5305C4-9170-4032-B7CF-492E1109E96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153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5305C4-9170-4032-B7CF-492E1109E96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09349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D1EAE2-F089-0CD9-E642-262734537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DF01B47-91D8-F176-56E0-0789D78BB1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B6D9E9-3365-24A0-E033-FE8D5BFEE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434D08A-BAE8-82F0-705C-C45B7181B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6F594E-4150-DE6D-A303-B423E9397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7364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FC9BD1-995E-75FD-DDEE-53E464DAAB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8367A-C62C-00C5-D30A-839F89267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ECA785-E422-F9B2-E035-7FF67619C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034E08-65D7-4663-0AAC-7EEFE8D2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A677CA-FEB3-A0F1-6ADD-18002696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511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28513-9EAC-FEDB-31FC-03D384D8F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B9C38A5-57F1-7D8D-D200-229AC73E0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104A28-029F-B4FB-FB9A-3CD543945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3ECEB8-B86F-0B0F-3270-AB3B136CA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028320-F306-A8AF-66BC-796022860D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1062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549774-A13D-0864-FCBA-9C7603742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74F611D-223D-422C-1A04-00F1E6B4AA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2B268BC-BA24-7B81-82CE-31EE72860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49B1BB2-B353-C7F4-8963-40E14B4AC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9658E4F-E28E-9971-F055-25A6E8B33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2C2C52-4883-60F8-773F-F81103DEF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17372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47D1E4-C74F-079F-1F53-F01E408F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F7C3F70-24D7-C66E-CA38-EA153E3E40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8F164F2-FF92-2C43-3226-9956068E64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901333D-392F-A58F-32C2-F4E8A0BE5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C27B0C5-A846-310D-9AB0-8CC3FE0848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1041F4C-29C3-522E-1E8D-BC3DDD94C1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8F87B0D-9BBD-C447-2EBA-060514C80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836E47F-3B51-6108-B8D9-9AD7120E2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198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0127C2F-DAAC-AF7D-5CAB-29E966601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1621819-2051-36CD-864E-A434B4268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4F7739F-4927-2ACC-7264-047B4241C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D51CBB6-23CB-7F9C-4FC4-5E2B83D03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2498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198388-844C-A9C5-61EF-B226E878F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9A92EA6-D0AB-1F28-BC3F-4CEC2F3AA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E4C32A3-27C0-E86F-DB62-0F1DEB756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6588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45254-3DCD-C3D2-C135-A8A60CC8A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E79EDCE-449B-89CC-B743-DD03965F24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1E319AD-6083-1A3E-2E2C-85CCE3577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7353C2-46C9-6DB0-A583-48B47C3B4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021D022-C911-FA8A-F831-6FEBB3FC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19FCB3-7392-D7D7-9E52-4C1214E0E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806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B6C85-B5AC-7752-5EE1-80D068E167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D6B9E3-876A-07AC-B4EA-E2F98D4AB5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EB8682-333B-5B34-C0C8-6D6CFE27B8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C64358-38B9-35CF-17E1-6FB572DE6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9A012B-78D9-E876-8560-538DF30AB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6134D0-BC85-0088-6C54-45F63E935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000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ADA42-9038-3379-1670-EADCD8755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0144DB-6F0D-25AA-B097-F18895644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84AAE2-7A41-FF3A-9DC7-BC40530FD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458B78E-529F-488B-EECD-B2A4C2FF9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98EF61-A0F6-98A3-AB20-501E4FD56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757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3DCD75-F998-D1AD-FAB3-F0715FB906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3829DCB-E78F-B3BD-840A-1180A4F41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F51D4E-F7E1-1E41-3158-9CC45FB2E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63CED2-ACFA-7549-C530-9473141BF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53D119-7FF1-1DBE-B09B-A19D11839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9757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10E296-CB0F-C03C-A7D2-A1AE62E64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960A395-49DA-5841-E1BA-DCD28ACF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323434D-AC05-C587-9C80-8CA3E1B591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B854BE-0C75-4359-84DE-3B0F79DB2FA3}" type="datetimeFigureOut">
              <a:rPr lang="zh-CN" altLang="en-US" smtClean="0"/>
              <a:t>2026/1/30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8174C8-F9FA-A2EB-920F-A604B19F2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18BEF8-B888-1895-6417-914A46745E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774E29-1D7A-43CA-B936-8139DE04FA5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911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909B247-A62A-D77D-06E7-EAB9DB9B20B7}"/>
              </a:ext>
            </a:extLst>
          </p:cNvPr>
          <p:cNvSpPr/>
          <p:nvPr/>
        </p:nvSpPr>
        <p:spPr>
          <a:xfrm>
            <a:off x="819150" y="361950"/>
            <a:ext cx="4825564" cy="561975"/>
          </a:xfrm>
          <a:prstGeom prst="rect">
            <a:avLst/>
          </a:prstGeom>
          <a:noFill/>
          <a:ln>
            <a:solidFill>
              <a:srgbClr val="91A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668BB9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Submersibles Model</a:t>
            </a:r>
            <a:endParaRPr lang="zh-CN" altLang="en-US" sz="2400" b="1" dirty="0">
              <a:solidFill>
                <a:srgbClr val="668BB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F0A1B9F-6CF9-76C9-AD0E-C556170919ED}"/>
              </a:ext>
            </a:extLst>
          </p:cNvPr>
          <p:cNvSpPr/>
          <p:nvPr/>
        </p:nvSpPr>
        <p:spPr>
          <a:xfrm>
            <a:off x="819150" y="1095523"/>
            <a:ext cx="4825565" cy="3743613"/>
          </a:xfrm>
          <a:prstGeom prst="rect">
            <a:avLst/>
          </a:prstGeom>
          <a:noFill/>
          <a:ln>
            <a:solidFill>
              <a:srgbClr val="668BB9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70F4D30-6233-C0D7-72FB-FE22B820BFEE}"/>
              </a:ext>
            </a:extLst>
          </p:cNvPr>
          <p:cNvSpPr/>
          <p:nvPr/>
        </p:nvSpPr>
        <p:spPr>
          <a:xfrm rot="16200000">
            <a:off x="-516594" y="2607820"/>
            <a:ext cx="3416745" cy="561975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measuring transducer</a:t>
            </a:r>
            <a:endParaRPr lang="zh-CN" altLang="en-US" sz="20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968570-51A1-4B7A-F7CC-0815D1AB4CCF}"/>
              </a:ext>
            </a:extLst>
          </p:cNvPr>
          <p:cNvSpPr/>
          <p:nvPr/>
        </p:nvSpPr>
        <p:spPr>
          <a:xfrm>
            <a:off x="1695524" y="1180436"/>
            <a:ext cx="3716106" cy="757398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Establishment of the dynamic equation</a:t>
            </a:r>
            <a:endParaRPr lang="zh-CN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D0670B-5EAA-FEA9-52A2-3A24F619E427}"/>
              </a:ext>
            </a:extLst>
          </p:cNvPr>
          <p:cNvSpPr/>
          <p:nvPr/>
        </p:nvSpPr>
        <p:spPr>
          <a:xfrm>
            <a:off x="1691513" y="3818591"/>
            <a:ext cx="1721930" cy="616886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model based on posterior probability</a:t>
            </a:r>
            <a:endParaRPr lang="zh-CN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9D7E691-3BB0-4091-4FE6-11E7EF66C7FE}"/>
              </a:ext>
            </a:extLst>
          </p:cNvPr>
          <p:cNvSpPr/>
          <p:nvPr/>
        </p:nvSpPr>
        <p:spPr>
          <a:xfrm>
            <a:off x="3649622" y="3809353"/>
            <a:ext cx="1757997" cy="616885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location</a:t>
            </a:r>
            <a:endParaRPr lang="zh-CN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1B672D99-651A-5E65-EC5A-F5B4DCE3D105}"/>
              </a:ext>
            </a:extLst>
          </p:cNvPr>
          <p:cNvSpPr/>
          <p:nvPr/>
        </p:nvSpPr>
        <p:spPr>
          <a:xfrm>
            <a:off x="1523415" y="2733515"/>
            <a:ext cx="4077285" cy="1890122"/>
          </a:xfrm>
          <a:prstGeom prst="roundRect">
            <a:avLst/>
          </a:prstGeom>
          <a:noFill/>
          <a:ln>
            <a:solidFill>
              <a:srgbClr val="668BB9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780B64-56DE-03A7-2F63-E67AC14D0348}"/>
              </a:ext>
            </a:extLst>
          </p:cNvPr>
          <p:cNvSpPr/>
          <p:nvPr/>
        </p:nvSpPr>
        <p:spPr>
          <a:xfrm>
            <a:off x="1695524" y="2863363"/>
            <a:ext cx="1721930" cy="791715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Uncertainty model based on Monte Carlo simulation</a:t>
            </a:r>
            <a:endParaRPr lang="zh-CN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DF4486B-B35D-0045-9D85-4026FC1C752C}"/>
              </a:ext>
            </a:extLst>
          </p:cNvPr>
          <p:cNvSpPr/>
          <p:nvPr/>
        </p:nvSpPr>
        <p:spPr>
          <a:xfrm>
            <a:off x="3653632" y="2863363"/>
            <a:ext cx="1757997" cy="791715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Predicted location</a:t>
            </a:r>
            <a:endParaRPr lang="zh-CN" altLang="en-US" sz="16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B8D6F8A-ABB7-FB72-AEA3-37DCB60D6A12}"/>
              </a:ext>
            </a:extLst>
          </p:cNvPr>
          <p:cNvSpPr/>
          <p:nvPr/>
        </p:nvSpPr>
        <p:spPr>
          <a:xfrm>
            <a:off x="1687987" y="2222876"/>
            <a:ext cx="807531" cy="468891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gravity</a:t>
            </a:r>
            <a:endParaRPr lang="zh-CN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10EB923-0184-B09B-3B42-540F96E1CCE1}"/>
              </a:ext>
            </a:extLst>
          </p:cNvPr>
          <p:cNvSpPr/>
          <p:nvPr/>
        </p:nvSpPr>
        <p:spPr>
          <a:xfrm>
            <a:off x="2577272" y="2222346"/>
            <a:ext cx="852240" cy="468891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flotage</a:t>
            </a:r>
            <a:endParaRPr lang="zh-CN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8F2289-9305-D8E0-975A-7D6D62F7BCAE}"/>
              </a:ext>
            </a:extLst>
          </p:cNvPr>
          <p:cNvSpPr/>
          <p:nvPr/>
        </p:nvSpPr>
        <p:spPr>
          <a:xfrm>
            <a:off x="3502019" y="2230846"/>
            <a:ext cx="1060704" cy="458682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hydraulic resistance</a:t>
            </a:r>
            <a:endParaRPr lang="zh-CN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204BEB-9469-9FAE-94DC-E034A636E81F}"/>
              </a:ext>
            </a:extLst>
          </p:cNvPr>
          <p:cNvSpPr/>
          <p:nvPr/>
        </p:nvSpPr>
        <p:spPr>
          <a:xfrm>
            <a:off x="4625853" y="2230846"/>
            <a:ext cx="785777" cy="458682"/>
          </a:xfrm>
          <a:prstGeom prst="rect">
            <a:avLst/>
          </a:prstGeom>
          <a:noFill/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inertial matrix</a:t>
            </a:r>
            <a:endParaRPr lang="zh-CN" altLang="en-US" sz="1400" b="1" dirty="0">
              <a:solidFill>
                <a:schemeClr val="tx2">
                  <a:lumMod val="90000"/>
                  <a:lumOff val="1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AE969B0-9F2E-3A26-6AB4-BAAD0C70DFD2}"/>
              </a:ext>
            </a:extLst>
          </p:cNvPr>
          <p:cNvSpPr/>
          <p:nvPr/>
        </p:nvSpPr>
        <p:spPr>
          <a:xfrm>
            <a:off x="5959186" y="361950"/>
            <a:ext cx="4781550" cy="561975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C0726E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Further Problems</a:t>
            </a:r>
            <a:endParaRPr lang="zh-CN" altLang="en-US" sz="2400" b="1" dirty="0">
              <a:solidFill>
                <a:srgbClr val="C0726E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657693F-C709-D6A4-E2AA-13218F7A508F}"/>
              </a:ext>
            </a:extLst>
          </p:cNvPr>
          <p:cNvSpPr/>
          <p:nvPr/>
        </p:nvSpPr>
        <p:spPr>
          <a:xfrm>
            <a:off x="5959186" y="1114714"/>
            <a:ext cx="4781550" cy="3743613"/>
          </a:xfrm>
          <a:prstGeom prst="rect">
            <a:avLst/>
          </a:prstGeom>
          <a:noFill/>
          <a:ln>
            <a:solidFill>
              <a:srgbClr val="D6A4A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869530B-CEEC-B34E-2EEA-E641498FD813}"/>
              </a:ext>
            </a:extLst>
          </p:cNvPr>
          <p:cNvSpPr/>
          <p:nvPr/>
        </p:nvSpPr>
        <p:spPr>
          <a:xfrm>
            <a:off x="6070240" y="1248214"/>
            <a:ext cx="2051590" cy="823118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Submarine dynamics Model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0AAB6B7-04AD-E1D4-5BDF-30DDDC44D19E}"/>
              </a:ext>
            </a:extLst>
          </p:cNvPr>
          <p:cNvSpPr/>
          <p:nvPr/>
        </p:nvSpPr>
        <p:spPr>
          <a:xfrm>
            <a:off x="8957220" y="1248214"/>
            <a:ext cx="1711364" cy="823118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Refine the movement state of the submersible vehicle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327D03F-D3E5-847C-4E1D-A7356217E4C9}"/>
              </a:ext>
            </a:extLst>
          </p:cNvPr>
          <p:cNvSpPr/>
          <p:nvPr/>
        </p:nvSpPr>
        <p:spPr>
          <a:xfrm>
            <a:off x="6067132" y="2189934"/>
            <a:ext cx="2025829" cy="847095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Multi-objective Optimization Model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02E83C2-A4D1-73E4-C646-D2B4C50FFEA3}"/>
              </a:ext>
            </a:extLst>
          </p:cNvPr>
          <p:cNvSpPr/>
          <p:nvPr/>
        </p:nvSpPr>
        <p:spPr>
          <a:xfrm>
            <a:off x="6067132" y="3119874"/>
            <a:ext cx="2025829" cy="706779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Greedy Search Model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33DBAD5F-2172-AEC3-9498-6E8C00C46307}"/>
              </a:ext>
            </a:extLst>
          </p:cNvPr>
          <p:cNvSpPr/>
          <p:nvPr/>
        </p:nvSpPr>
        <p:spPr>
          <a:xfrm>
            <a:off x="8957220" y="2239753"/>
            <a:ext cx="1711364" cy="700295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reasonable choice of equipment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3ACC01B-F3E1-9FA4-3B9B-2D77E3A4BBF7}"/>
              </a:ext>
            </a:extLst>
          </p:cNvPr>
          <p:cNvSpPr/>
          <p:nvPr/>
        </p:nvSpPr>
        <p:spPr>
          <a:xfrm>
            <a:off x="8957220" y="3126358"/>
            <a:ext cx="1711364" cy="700295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Effective search and rescue with a single submersible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0DDE81AD-797B-CF73-5190-C08AC03474B9}"/>
              </a:ext>
            </a:extLst>
          </p:cNvPr>
          <p:cNvSpPr/>
          <p:nvPr/>
        </p:nvSpPr>
        <p:spPr>
          <a:xfrm>
            <a:off x="8941801" y="3937637"/>
            <a:ext cx="1711364" cy="845925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Expand to  other tourist destinations and multiple submersibles</a:t>
            </a:r>
            <a:endParaRPr lang="zh-CN" altLang="en-US" sz="14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2F0EC56C-CFD3-ECAD-A0C1-AC9D79D1C5A8}"/>
              </a:ext>
            </a:extLst>
          </p:cNvPr>
          <p:cNvSpPr/>
          <p:nvPr/>
        </p:nvSpPr>
        <p:spPr>
          <a:xfrm>
            <a:off x="819150" y="5029925"/>
            <a:ext cx="9921586" cy="561975"/>
          </a:xfrm>
          <a:prstGeom prst="rect">
            <a:avLst/>
          </a:prstGeom>
          <a:noFill/>
          <a:ln>
            <a:solidFill>
              <a:srgbClr val="38998C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rgbClr val="38998C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Solution for a Search</a:t>
            </a:r>
            <a:endParaRPr lang="zh-CN" altLang="en-US" sz="2400" b="1" dirty="0">
              <a:solidFill>
                <a:srgbClr val="38998C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A5816350-59D7-06F6-82DE-E04FC4F092A5}"/>
              </a:ext>
            </a:extLst>
          </p:cNvPr>
          <p:cNvSpPr/>
          <p:nvPr/>
        </p:nvSpPr>
        <p:spPr>
          <a:xfrm>
            <a:off x="819150" y="5679893"/>
            <a:ext cx="9921586" cy="1041441"/>
          </a:xfrm>
          <a:prstGeom prst="rect">
            <a:avLst/>
          </a:prstGeom>
          <a:noFill/>
          <a:ln>
            <a:solidFill>
              <a:srgbClr val="4FAB75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D5175E06-AB03-C670-26E4-95F55F42AD3C}"/>
              </a:ext>
            </a:extLst>
          </p:cNvPr>
          <p:cNvSpPr/>
          <p:nvPr/>
        </p:nvSpPr>
        <p:spPr>
          <a:xfrm>
            <a:off x="991626" y="5763498"/>
            <a:ext cx="1511429" cy="846852"/>
          </a:xfrm>
          <a:prstGeom prst="rect">
            <a:avLst/>
          </a:prstGeom>
          <a:noFill/>
          <a:ln>
            <a:solidFill>
              <a:srgbClr val="4F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3169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Sensitivity Analysis</a:t>
            </a:r>
            <a:endParaRPr lang="zh-CN" altLang="en-US" sz="2000" b="1" dirty="0">
              <a:solidFill>
                <a:srgbClr val="31694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77CE42C-0CDE-C80F-EE4B-FC4228817F3F}"/>
              </a:ext>
            </a:extLst>
          </p:cNvPr>
          <p:cNvSpPr/>
          <p:nvPr/>
        </p:nvSpPr>
        <p:spPr>
          <a:xfrm>
            <a:off x="2858603" y="5763498"/>
            <a:ext cx="3266268" cy="846852"/>
          </a:xfrm>
          <a:prstGeom prst="rect">
            <a:avLst/>
          </a:prstGeom>
          <a:noFill/>
          <a:ln>
            <a:solidFill>
              <a:srgbClr val="4F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3169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Strengths and Weakness</a:t>
            </a:r>
            <a:endParaRPr lang="zh-CN" altLang="en-US" sz="2000" b="1" dirty="0">
              <a:solidFill>
                <a:srgbClr val="31694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595FA8C7-0AD2-3EDA-F3F9-5DC3D9536B9B}"/>
              </a:ext>
            </a:extLst>
          </p:cNvPr>
          <p:cNvSpPr/>
          <p:nvPr/>
        </p:nvSpPr>
        <p:spPr>
          <a:xfrm>
            <a:off x="6498441" y="5763498"/>
            <a:ext cx="2892695" cy="846852"/>
          </a:xfrm>
          <a:prstGeom prst="rect">
            <a:avLst/>
          </a:prstGeom>
          <a:noFill/>
          <a:ln>
            <a:solidFill>
              <a:srgbClr val="4F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b="1" dirty="0">
                <a:solidFill>
                  <a:srgbClr val="316948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  <a:endParaRPr lang="zh-CN" altLang="en-US" sz="2000" b="1" dirty="0">
              <a:solidFill>
                <a:srgbClr val="316948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箭头: 右 57">
            <a:extLst>
              <a:ext uri="{FF2B5EF4-FFF2-40B4-BE49-F238E27FC236}">
                <a16:creationId xmlns:a16="http://schemas.microsoft.com/office/drawing/2014/main" id="{FA1D3898-5795-9E73-B82B-33C8A1FA2EEE}"/>
              </a:ext>
            </a:extLst>
          </p:cNvPr>
          <p:cNvSpPr/>
          <p:nvPr/>
        </p:nvSpPr>
        <p:spPr>
          <a:xfrm>
            <a:off x="2504015" y="6107066"/>
            <a:ext cx="363085" cy="309126"/>
          </a:xfrm>
          <a:prstGeom prst="rightArrow">
            <a:avLst/>
          </a:prstGeom>
          <a:gradFill flip="none" rotWithShape="1">
            <a:gsLst>
              <a:gs pos="30000">
                <a:srgbClr val="447759"/>
              </a:gs>
              <a:gs pos="3000">
                <a:srgbClr val="316948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rgbClr val="4F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箭头: 右 64">
            <a:extLst>
              <a:ext uri="{FF2B5EF4-FFF2-40B4-BE49-F238E27FC236}">
                <a16:creationId xmlns:a16="http://schemas.microsoft.com/office/drawing/2014/main" id="{11C7E5F9-1B43-812E-1C93-5077AFEFFA21}"/>
              </a:ext>
            </a:extLst>
          </p:cNvPr>
          <p:cNvSpPr/>
          <p:nvPr/>
        </p:nvSpPr>
        <p:spPr>
          <a:xfrm>
            <a:off x="3381119" y="3974192"/>
            <a:ext cx="346796" cy="342726"/>
          </a:xfrm>
          <a:prstGeom prst="rightArrow">
            <a:avLst/>
          </a:prstGeom>
          <a:gradFill>
            <a:gsLst>
              <a:gs pos="60000">
                <a:schemeClr val="bg1"/>
              </a:gs>
              <a:gs pos="0">
                <a:schemeClr val="accent1">
                  <a:lumMod val="5000"/>
                  <a:lumOff val="95000"/>
                </a:schemeClr>
              </a:gs>
              <a:gs pos="0">
                <a:srgbClr val="668BB9"/>
              </a:gs>
            </a:gsLst>
            <a:lin ang="0" scaled="0"/>
          </a:gradFill>
          <a:ln>
            <a:solidFill>
              <a:srgbClr val="91A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6" name="箭头: 燕尾形 65">
            <a:extLst>
              <a:ext uri="{FF2B5EF4-FFF2-40B4-BE49-F238E27FC236}">
                <a16:creationId xmlns:a16="http://schemas.microsoft.com/office/drawing/2014/main" id="{DE725FF6-23AB-CF3A-C6BA-35165874C68C}"/>
              </a:ext>
            </a:extLst>
          </p:cNvPr>
          <p:cNvSpPr/>
          <p:nvPr/>
        </p:nvSpPr>
        <p:spPr>
          <a:xfrm>
            <a:off x="5600700" y="599678"/>
            <a:ext cx="488990" cy="196010"/>
          </a:xfrm>
          <a:prstGeom prst="notchedRightArrow">
            <a:avLst/>
          </a:prstGeom>
          <a:gradFill flip="none" rotWithShape="1">
            <a:gsLst>
              <a:gs pos="73000">
                <a:srgbClr val="DDBAB9"/>
              </a:gs>
              <a:gs pos="48000">
                <a:srgbClr val="E4D0D1"/>
              </a:gs>
              <a:gs pos="0">
                <a:schemeClr val="accent1">
                  <a:lumMod val="5000"/>
                  <a:lumOff val="95000"/>
                </a:schemeClr>
              </a:gs>
              <a:gs pos="89000">
                <a:srgbClr val="D6A4A1">
                  <a:alpha val="50000"/>
                </a:srgbClr>
              </a:gs>
              <a:gs pos="0">
                <a:schemeClr val="accent1">
                  <a:lumMod val="45000"/>
                  <a:lumOff val="55000"/>
                </a:schemeClr>
              </a:gs>
              <a:gs pos="100000">
                <a:srgbClr val="D6A4A1"/>
              </a:gs>
            </a:gsLst>
            <a:lin ang="3000000" scaled="0"/>
            <a:tileRect/>
          </a:gradFill>
          <a:ln>
            <a:solidFill>
              <a:srgbClr val="668BB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0" name="箭头: 燕尾形 79">
            <a:extLst>
              <a:ext uri="{FF2B5EF4-FFF2-40B4-BE49-F238E27FC236}">
                <a16:creationId xmlns:a16="http://schemas.microsoft.com/office/drawing/2014/main" id="{F115F2F4-1C67-38D9-CDCA-02F682B58413}"/>
              </a:ext>
            </a:extLst>
          </p:cNvPr>
          <p:cNvSpPr/>
          <p:nvPr/>
        </p:nvSpPr>
        <p:spPr>
          <a:xfrm>
            <a:off x="8147591" y="1530708"/>
            <a:ext cx="783868" cy="245769"/>
          </a:xfrm>
          <a:prstGeom prst="notchedRightArrow">
            <a:avLst/>
          </a:prstGeom>
          <a:gradFill>
            <a:gsLst>
              <a:gs pos="0">
                <a:srgbClr val="D6A4A1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D6A4A1"/>
              </a:gs>
            </a:gsLst>
            <a:lin ang="0" scaled="0"/>
          </a:gradFill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D6A4A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1" name="箭头: 燕尾形 80">
            <a:extLst>
              <a:ext uri="{FF2B5EF4-FFF2-40B4-BE49-F238E27FC236}">
                <a16:creationId xmlns:a16="http://schemas.microsoft.com/office/drawing/2014/main" id="{D5CFAC3A-D148-9334-63D3-85AF187133B9}"/>
              </a:ext>
            </a:extLst>
          </p:cNvPr>
          <p:cNvSpPr/>
          <p:nvPr/>
        </p:nvSpPr>
        <p:spPr>
          <a:xfrm>
            <a:off x="8121830" y="2464614"/>
            <a:ext cx="835390" cy="245769"/>
          </a:xfrm>
          <a:prstGeom prst="notchedRightArrow">
            <a:avLst/>
          </a:prstGeom>
          <a:gradFill>
            <a:gsLst>
              <a:gs pos="0">
                <a:srgbClr val="D6A4A1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D6A4A1"/>
              </a:gs>
            </a:gsLst>
            <a:lin ang="0" scaled="0"/>
          </a:gradFill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D6A4A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2" name="箭头: 燕尾形 81">
            <a:extLst>
              <a:ext uri="{FF2B5EF4-FFF2-40B4-BE49-F238E27FC236}">
                <a16:creationId xmlns:a16="http://schemas.microsoft.com/office/drawing/2014/main" id="{A0C29B8F-6B6F-8130-13F1-C66FE2CCE05F}"/>
              </a:ext>
            </a:extLst>
          </p:cNvPr>
          <p:cNvSpPr/>
          <p:nvPr/>
        </p:nvSpPr>
        <p:spPr>
          <a:xfrm>
            <a:off x="8147591" y="4303353"/>
            <a:ext cx="783868" cy="245769"/>
          </a:xfrm>
          <a:prstGeom prst="notchedRightArrow">
            <a:avLst/>
          </a:prstGeom>
          <a:gradFill>
            <a:gsLst>
              <a:gs pos="0">
                <a:srgbClr val="D6A4A1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D6A4A1"/>
              </a:gs>
            </a:gsLst>
            <a:lin ang="0" scaled="0"/>
          </a:gradFill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D6A4A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3" name="箭头: 燕尾形 82">
            <a:extLst>
              <a:ext uri="{FF2B5EF4-FFF2-40B4-BE49-F238E27FC236}">
                <a16:creationId xmlns:a16="http://schemas.microsoft.com/office/drawing/2014/main" id="{47A0AC71-FF8A-2BCC-CE63-2F61E408A567}"/>
              </a:ext>
            </a:extLst>
          </p:cNvPr>
          <p:cNvSpPr/>
          <p:nvPr/>
        </p:nvSpPr>
        <p:spPr>
          <a:xfrm>
            <a:off x="8147591" y="3420598"/>
            <a:ext cx="783868" cy="245769"/>
          </a:xfrm>
          <a:prstGeom prst="notchedRightArrow">
            <a:avLst/>
          </a:prstGeom>
          <a:gradFill>
            <a:gsLst>
              <a:gs pos="0">
                <a:srgbClr val="D6A4A1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D6A4A1"/>
              </a:gs>
            </a:gsLst>
            <a:lin ang="0" scaled="0"/>
          </a:gradFill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D6A4A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D38D5FEF-C4C0-C1CF-A90F-4C5DC38D5960}"/>
              </a:ext>
            </a:extLst>
          </p:cNvPr>
          <p:cNvSpPr/>
          <p:nvPr/>
        </p:nvSpPr>
        <p:spPr>
          <a:xfrm>
            <a:off x="6067132" y="3934745"/>
            <a:ext cx="2025829" cy="835398"/>
          </a:xfrm>
          <a:prstGeom prst="rect">
            <a:avLst/>
          </a:prstGeom>
          <a:noFill/>
          <a:ln>
            <a:solidFill>
              <a:srgbClr val="D6A4A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Multi-objective Hierarchical Search Strategy</a:t>
            </a:r>
            <a:endParaRPr lang="zh-CN" altLang="en-US" sz="16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9" name="图形 88">
            <a:extLst>
              <a:ext uri="{FF2B5EF4-FFF2-40B4-BE49-F238E27FC236}">
                <a16:creationId xmlns:a16="http://schemas.microsoft.com/office/drawing/2014/main" id="{3FFD1415-C44F-6EE5-FD76-ADB43A40E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2252" y="1266100"/>
            <a:ext cx="379051" cy="379051"/>
          </a:xfrm>
          <a:prstGeom prst="rect">
            <a:avLst/>
          </a:prstGeom>
        </p:spPr>
      </p:pic>
      <p:sp>
        <p:nvSpPr>
          <p:cNvPr id="90" name="箭头: V 形 89">
            <a:extLst>
              <a:ext uri="{FF2B5EF4-FFF2-40B4-BE49-F238E27FC236}">
                <a16:creationId xmlns:a16="http://schemas.microsoft.com/office/drawing/2014/main" id="{F8DD560B-BEBA-A4C6-BD48-03435D6CE559}"/>
              </a:ext>
            </a:extLst>
          </p:cNvPr>
          <p:cNvSpPr/>
          <p:nvPr/>
        </p:nvSpPr>
        <p:spPr>
          <a:xfrm rot="5400000">
            <a:off x="3119970" y="4860949"/>
            <a:ext cx="764097" cy="362005"/>
          </a:xfrm>
          <a:prstGeom prst="chevron">
            <a:avLst/>
          </a:prstGeom>
          <a:gradFill>
            <a:gsLst>
              <a:gs pos="69000">
                <a:schemeClr val="accent3">
                  <a:lumMod val="40000"/>
                  <a:lumOff val="6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  <a:gs pos="34000">
                <a:srgbClr val="668BB9">
                  <a:alpha val="70000"/>
                </a:srgbClr>
              </a:gs>
              <a:gs pos="0">
                <a:srgbClr val="668BB9"/>
              </a:gs>
              <a:gs pos="100000">
                <a:srgbClr val="4FAB75">
                  <a:alpha val="50000"/>
                </a:srgbClr>
              </a:gs>
            </a:gsLst>
            <a:lin ang="0" scaled="0"/>
          </a:gradFill>
          <a:ln>
            <a:solidFill>
              <a:srgbClr val="4F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1" name="箭头: V 形 90">
            <a:extLst>
              <a:ext uri="{FF2B5EF4-FFF2-40B4-BE49-F238E27FC236}">
                <a16:creationId xmlns:a16="http://schemas.microsoft.com/office/drawing/2014/main" id="{B38C423B-0944-9D38-246E-0928C35F51EB}"/>
              </a:ext>
            </a:extLst>
          </p:cNvPr>
          <p:cNvSpPr/>
          <p:nvPr/>
        </p:nvSpPr>
        <p:spPr>
          <a:xfrm rot="5400000">
            <a:off x="8157476" y="4848922"/>
            <a:ext cx="764097" cy="362005"/>
          </a:xfrm>
          <a:prstGeom prst="chevron">
            <a:avLst/>
          </a:prstGeom>
          <a:gradFill>
            <a:gsLst>
              <a:gs pos="69000">
                <a:schemeClr val="accent3">
                  <a:lumMod val="40000"/>
                  <a:lumOff val="6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  <a:gs pos="34000">
                <a:srgbClr val="D6A4A1">
                  <a:alpha val="70000"/>
                </a:srgbClr>
              </a:gs>
              <a:gs pos="0">
                <a:srgbClr val="D6A4A1"/>
              </a:gs>
              <a:gs pos="100000">
                <a:srgbClr val="4FAB75">
                  <a:alpha val="50000"/>
                </a:srgbClr>
              </a:gs>
            </a:gsLst>
            <a:lin ang="0" scaled="0"/>
          </a:gradFill>
          <a:ln>
            <a:solidFill>
              <a:srgbClr val="4F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2" name="箭头: 右 91">
            <a:extLst>
              <a:ext uri="{FF2B5EF4-FFF2-40B4-BE49-F238E27FC236}">
                <a16:creationId xmlns:a16="http://schemas.microsoft.com/office/drawing/2014/main" id="{48776E63-0EED-6F84-BFB5-7F837A8F1F0C}"/>
              </a:ext>
            </a:extLst>
          </p:cNvPr>
          <p:cNvSpPr/>
          <p:nvPr/>
        </p:nvSpPr>
        <p:spPr>
          <a:xfrm>
            <a:off x="3381119" y="3106783"/>
            <a:ext cx="346796" cy="342726"/>
          </a:xfrm>
          <a:prstGeom prst="rightArrow">
            <a:avLst/>
          </a:prstGeom>
          <a:gradFill>
            <a:gsLst>
              <a:gs pos="0">
                <a:scrgbClr r="0" g="0" b="0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668BB9"/>
              </a:gs>
            </a:gsLst>
            <a:lin ang="0" scaled="0"/>
          </a:gradFill>
          <a:ln>
            <a:solidFill>
              <a:srgbClr val="91A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3" name="箭头: 右 92">
            <a:extLst>
              <a:ext uri="{FF2B5EF4-FFF2-40B4-BE49-F238E27FC236}">
                <a16:creationId xmlns:a16="http://schemas.microsoft.com/office/drawing/2014/main" id="{CF1355D6-F4EF-2791-A591-A8A243C1D92D}"/>
              </a:ext>
            </a:extLst>
          </p:cNvPr>
          <p:cNvSpPr/>
          <p:nvPr/>
        </p:nvSpPr>
        <p:spPr>
          <a:xfrm rot="16200000">
            <a:off x="1908433" y="1868772"/>
            <a:ext cx="346796" cy="342726"/>
          </a:xfrm>
          <a:prstGeom prst="rightArrow">
            <a:avLst/>
          </a:prstGeom>
          <a:gradFill>
            <a:gsLst>
              <a:gs pos="0">
                <a:scrgbClr r="0" g="0" b="0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668BB9"/>
              </a:gs>
            </a:gsLst>
            <a:lin ang="0" scaled="0"/>
          </a:gradFill>
          <a:ln>
            <a:solidFill>
              <a:srgbClr val="91A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4" name="箭头: 右 93">
            <a:extLst>
              <a:ext uri="{FF2B5EF4-FFF2-40B4-BE49-F238E27FC236}">
                <a16:creationId xmlns:a16="http://schemas.microsoft.com/office/drawing/2014/main" id="{BDD24E90-406F-698E-EABE-318BACFF171F}"/>
              </a:ext>
            </a:extLst>
          </p:cNvPr>
          <p:cNvSpPr/>
          <p:nvPr/>
        </p:nvSpPr>
        <p:spPr>
          <a:xfrm rot="16200000">
            <a:off x="2807990" y="1868772"/>
            <a:ext cx="346796" cy="342726"/>
          </a:xfrm>
          <a:prstGeom prst="rightArrow">
            <a:avLst/>
          </a:prstGeom>
          <a:gradFill>
            <a:gsLst>
              <a:gs pos="0">
                <a:scrgbClr r="0" g="0" b="0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668BB9"/>
              </a:gs>
            </a:gsLst>
            <a:lin ang="0" scaled="0"/>
          </a:gradFill>
          <a:ln>
            <a:solidFill>
              <a:srgbClr val="91A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6" name="箭头: 右 95">
            <a:extLst>
              <a:ext uri="{FF2B5EF4-FFF2-40B4-BE49-F238E27FC236}">
                <a16:creationId xmlns:a16="http://schemas.microsoft.com/office/drawing/2014/main" id="{7C2B37AF-5D07-31BE-3BA8-48D507A04B2D}"/>
              </a:ext>
            </a:extLst>
          </p:cNvPr>
          <p:cNvSpPr/>
          <p:nvPr/>
        </p:nvSpPr>
        <p:spPr>
          <a:xfrm rot="16200000">
            <a:off x="3852906" y="1877585"/>
            <a:ext cx="346796" cy="342726"/>
          </a:xfrm>
          <a:prstGeom prst="rightArrow">
            <a:avLst/>
          </a:prstGeom>
          <a:gradFill>
            <a:gsLst>
              <a:gs pos="0">
                <a:scrgbClr r="0" g="0" b="0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668BB9"/>
              </a:gs>
            </a:gsLst>
            <a:lin ang="0" scaled="0"/>
          </a:gradFill>
          <a:ln>
            <a:solidFill>
              <a:srgbClr val="91A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8" name="箭头: 右 97">
            <a:extLst>
              <a:ext uri="{FF2B5EF4-FFF2-40B4-BE49-F238E27FC236}">
                <a16:creationId xmlns:a16="http://schemas.microsoft.com/office/drawing/2014/main" id="{318F8A56-D44F-760E-488C-86372BBFC5E4}"/>
              </a:ext>
            </a:extLst>
          </p:cNvPr>
          <p:cNvSpPr/>
          <p:nvPr/>
        </p:nvSpPr>
        <p:spPr>
          <a:xfrm rot="16200000">
            <a:off x="4807629" y="1877585"/>
            <a:ext cx="346796" cy="342726"/>
          </a:xfrm>
          <a:prstGeom prst="rightArrow">
            <a:avLst/>
          </a:prstGeom>
          <a:gradFill>
            <a:gsLst>
              <a:gs pos="0">
                <a:scrgbClr r="0" g="0" b="0"/>
              </a:gs>
              <a:gs pos="53000">
                <a:schemeClr val="accent1">
                  <a:lumMod val="5000"/>
                  <a:lumOff val="95000"/>
                </a:schemeClr>
              </a:gs>
              <a:gs pos="0">
                <a:srgbClr val="668BB9"/>
              </a:gs>
            </a:gsLst>
            <a:lin ang="0" scaled="0"/>
          </a:gradFill>
          <a:ln>
            <a:solidFill>
              <a:srgbClr val="91ABC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" name="图形 19">
            <a:extLst>
              <a:ext uri="{FF2B5EF4-FFF2-40B4-BE49-F238E27FC236}">
                <a16:creationId xmlns:a16="http://schemas.microsoft.com/office/drawing/2014/main" id="{56C8300D-4A78-90E1-CBA1-3B4BE05902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1387" y="1262743"/>
            <a:ext cx="540772" cy="540772"/>
          </a:xfrm>
          <a:prstGeom prst="rect">
            <a:avLst/>
          </a:prstGeom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1F693110-055F-F2BB-6668-60A1DE502F1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78893" y="3662037"/>
            <a:ext cx="675337" cy="675337"/>
          </a:xfrm>
          <a:prstGeom prst="rect">
            <a:avLst/>
          </a:prstGeom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C05CBCC3-64A6-B60A-BD71-57873C1E126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3694" y="4774506"/>
            <a:ext cx="914226" cy="914226"/>
          </a:xfrm>
          <a:prstGeom prst="rect">
            <a:avLst/>
          </a:prstGeom>
        </p:spPr>
      </p:pic>
      <p:pic>
        <p:nvPicPr>
          <p:cNvPr id="26" name="图形 25">
            <a:extLst>
              <a:ext uri="{FF2B5EF4-FFF2-40B4-BE49-F238E27FC236}">
                <a16:creationId xmlns:a16="http://schemas.microsoft.com/office/drawing/2014/main" id="{EB20052E-68DA-C6CC-7B1D-84BF31EE0EE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8881" y="332720"/>
            <a:ext cx="638738" cy="638738"/>
          </a:xfrm>
          <a:prstGeom prst="rect">
            <a:avLst/>
          </a:prstGeom>
        </p:spPr>
      </p:pic>
      <p:pic>
        <p:nvPicPr>
          <p:cNvPr id="28" name="图形 27">
            <a:extLst>
              <a:ext uri="{FF2B5EF4-FFF2-40B4-BE49-F238E27FC236}">
                <a16:creationId xmlns:a16="http://schemas.microsoft.com/office/drawing/2014/main" id="{2F0C6C1E-D5C5-5A8D-98D1-E5E88B49CDDD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68701" y="1825508"/>
            <a:ext cx="631283" cy="631283"/>
          </a:xfrm>
          <a:prstGeom prst="rect">
            <a:avLst/>
          </a:prstGeom>
        </p:spPr>
      </p:pic>
      <p:pic>
        <p:nvPicPr>
          <p:cNvPr id="30" name="图形 29">
            <a:extLst>
              <a:ext uri="{FF2B5EF4-FFF2-40B4-BE49-F238E27FC236}">
                <a16:creationId xmlns:a16="http://schemas.microsoft.com/office/drawing/2014/main" id="{9A887B52-4818-4884-02D1-49C5F06EC70F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770309" y="5737786"/>
            <a:ext cx="898275" cy="898275"/>
          </a:xfrm>
          <a:prstGeom prst="rect">
            <a:avLst/>
          </a:prstGeom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8494B178-0F89-A59A-8E38-780FF45A1D4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flipH="1">
            <a:off x="9842461" y="4765667"/>
            <a:ext cx="898275" cy="914226"/>
          </a:xfrm>
          <a:prstGeom prst="rect">
            <a:avLst/>
          </a:prstGeom>
        </p:spPr>
      </p:pic>
      <p:sp>
        <p:nvSpPr>
          <p:cNvPr id="35" name="箭头: 右 34">
            <a:extLst>
              <a:ext uri="{FF2B5EF4-FFF2-40B4-BE49-F238E27FC236}">
                <a16:creationId xmlns:a16="http://schemas.microsoft.com/office/drawing/2014/main" id="{AABF2BB6-0EC6-719E-4DFE-C92026940466}"/>
              </a:ext>
            </a:extLst>
          </p:cNvPr>
          <p:cNvSpPr/>
          <p:nvPr/>
        </p:nvSpPr>
        <p:spPr>
          <a:xfrm>
            <a:off x="6135356" y="6046050"/>
            <a:ext cx="363085" cy="309126"/>
          </a:xfrm>
          <a:prstGeom prst="rightArrow">
            <a:avLst/>
          </a:prstGeom>
          <a:gradFill flip="none" rotWithShape="1">
            <a:gsLst>
              <a:gs pos="30000">
                <a:srgbClr val="447759"/>
              </a:gs>
              <a:gs pos="3000">
                <a:srgbClr val="316948"/>
              </a:gs>
              <a:gs pos="100000">
                <a:schemeClr val="bg1"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solidFill>
              <a:srgbClr val="4F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2470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</TotalTime>
  <Words>88</Words>
  <Application>Microsoft Office PowerPoint</Application>
  <PresentationFormat>宽屏</PresentationFormat>
  <Paragraphs>25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haoxiang xiong</dc:creator>
  <cp:lastModifiedBy>haoxiang xiong</cp:lastModifiedBy>
  <cp:revision>10</cp:revision>
  <dcterms:created xsi:type="dcterms:W3CDTF">2026-01-24T04:11:00Z</dcterms:created>
  <dcterms:modified xsi:type="dcterms:W3CDTF">2026-01-30T09:45:50Z</dcterms:modified>
</cp:coreProperties>
</file>